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Solana Local Explorer — a self-hosted block explorer and real-time indexer for a private Solana validator. Presented by Garvit Dadheech and Shubh Kesharwani under the guidance of Dharma Teja.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The key point: this is not a missing feature in Solscan — it is structural. A ledger inside one laptop can never reach a hosted explorer.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Six objectives; Chapter 7 of the report assesses each one against evidence. All six are met.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Note the first column: hosted explorers and managed platforms fail it absolutely, and no amount of engineering fixes that.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Bottom to top: the validator produces events, the indexer normalises them, PostgreSQL stores them, Next.js serves them. Each tier talks to its neighbour over exactly one protocol, so the data source is substitutable.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TypeScript end to end means the indexer and the explorer share one generated Prisma client, so a schema change breaks the build rather than production.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Feature 3 is the one worth pausing on: JSON.stringify throws on BigInt, and coercing to Number silently corrupts balances above 2^53.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Live demo: start the stack, send a transfer from inside the validator container, and watch it appear on the dashboard within five seconds.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The two phases share only the database. Ingestion is driven by the validator; queries are driven by the user.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AccountBalance stores one row per account key index, because Solana's preBalances/postBalances arrays are positional — element i belongs to account key i.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These are architectural claims, each tied to the mechanism that produces it — not a benchmark. The report says so explicitly.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Be explicit at viva: only the 38 automated results are machine-checkable. The other 54 are scripted procedures, documented so they can be re-run.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Two defects are open and disclosed: D-06, a zero compute-unit value stored as unknown; and D-09, accounts predating the balance-tracking migration.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Close on the value proposition: this is the tool for the chain nobody else can see.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143000" y="1122362"/>
            <a:ext cx="6858000" cy="23876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6466115"/>
            <a:ext cx="9153002" cy="1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xfrm>
            <a:off x="331470" y="349886"/>
            <a:ext cx="6995160" cy="930666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400050" y="1825625"/>
            <a:ext cx="8492491" cy="435133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548639" indent="-205739">
              <a:defRPr sz="1800"/>
            </a:lvl2pPr>
            <a:lvl3pPr marL="923192" indent="-237392">
              <a:defRPr sz="1800"/>
            </a:lvl3pPr>
            <a:lvl4pPr marL="1285875" indent="-257175">
              <a:defRPr sz="1800"/>
            </a:lvl4pPr>
            <a:lvl5pPr marL="1628775" indent="-257175"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6466115"/>
            <a:ext cx="9153002" cy="1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3" y="1295790"/>
            <a:ext cx="3348992" cy="10352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59040" y="405950"/>
            <a:ext cx="1333501" cy="67945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757575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757575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757575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2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800"/>
            </a:lvl1pPr>
            <a:lvl2pPr marL="0" indent="342900">
              <a:buSzTx/>
              <a:buFontTx/>
              <a:buNone/>
              <a:defRPr b="1" sz="1800"/>
            </a:lvl2pPr>
            <a:lvl3pPr marL="0" indent="685800">
              <a:buSzTx/>
              <a:buFontTx/>
              <a:buNone/>
              <a:defRPr b="1" sz="1800"/>
            </a:lvl3pPr>
            <a:lvl4pPr marL="0" indent="1028700">
              <a:buSzTx/>
              <a:buFontTx/>
              <a:buNone/>
              <a:defRPr b="1" sz="1800"/>
            </a:lvl4pPr>
            <a:lvl5pPr marL="0" indent="1371600"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Text Placeholder 4"/>
          <p:cNvSpPr/>
          <p:nvPr>
            <p:ph type="body" sz="quarter" idx="21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1800"/>
            </a:pP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20"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200"/>
            </a:pP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87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342900">
              <a:buSzTx/>
              <a:buFontTx/>
              <a:buNone/>
              <a:defRPr sz="1200"/>
            </a:lvl2pPr>
            <a:lvl3pPr marL="0" indent="685800">
              <a:buSzTx/>
              <a:buFontTx/>
              <a:buNone/>
              <a:defRPr sz="1200"/>
            </a:lvl3pPr>
            <a:lvl4pPr marL="0" indent="1028700">
              <a:buSzTx/>
              <a:buFontTx/>
              <a:buNone/>
              <a:defRPr sz="1200"/>
            </a:lvl4pPr>
            <a:lvl5pPr marL="0" indent="1371600">
              <a:buSzTx/>
              <a:buFont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284073" y="6423344"/>
            <a:ext cx="231278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16485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19914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23343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26772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30201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75" y="1743794"/>
            <a:ext cx="3290488" cy="12545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Rectangle 1"/>
          <p:cNvSpPr/>
          <p:nvPr/>
        </p:nvSpPr>
        <p:spPr>
          <a:xfrm>
            <a:off x="4415830" y="1743794"/>
            <a:ext cx="45640" cy="1388570"/>
          </a:xfrm>
          <a:prstGeom prst="rect">
            <a:avLst/>
          </a:prstGeom>
          <a:solidFill>
            <a:srgbClr val="970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0" name="Title 1"/>
          <p:cNvSpPr txBox="1"/>
          <p:nvPr/>
        </p:nvSpPr>
        <p:spPr>
          <a:xfrm>
            <a:off x="1673631" y="3255264"/>
            <a:ext cx="5486400" cy="60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>
            <a:lvl1pPr algn="ctr">
              <a:lnSpc>
                <a:spcPct val="90000"/>
              </a:lnSpc>
              <a:defRPr b="1" sz="2800">
                <a:solidFill>
                  <a:srgbClr val="9700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 algn="ctr">
              <a:lnSpc>
                <a:spcPts val="4020"/>
              </a:lnSpc>
            </a:pPr>
            <a:r>
              <a:rPr sz="3000" b="1" i="0">
                <a:solidFill>
                  <a:srgbClr val="9700FF"/>
                </a:solidFill>
                <a:latin typeface="Calibri"/>
              </a:rPr>
              <a:t>Solana Local Explorer</a:t>
            </a:r>
          </a:p>
        </p:txBody>
      </p:sp>
      <p:sp>
        <p:nvSpPr>
          <p:cNvPr id="101" name="Content Placeholder 2"/>
          <p:cNvSpPr txBox="1"/>
          <p:nvPr/>
        </p:nvSpPr>
        <p:spPr>
          <a:xfrm>
            <a:off x="4741545" y="1773936"/>
            <a:ext cx="3428860" cy="129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/>
          <a:p>
            <a:pPr algn="ctr">
              <a:lnSpc>
                <a:spcPts val="1739"/>
              </a:lnSpc>
              <a:spcBef>
                <a:spcPts val="1000"/>
              </a:spcBef>
              <a:defRPr b="1" sz="1200">
                <a:solidFill>
                  <a:srgbClr val="9933FF"/>
                </a:solidFill>
              </a:defRPr>
            </a:pPr>
            <a:r>
              <a:rPr sz="1300" b="1" i="0">
                <a:solidFill>
                  <a:srgbClr val="9700FF"/>
                </a:solidFill>
                <a:latin typeface="Calibri"/>
              </a:rPr>
              <a:t>Presented by:</a:t>
            </a:r>
            <a:endParaRPr sz="2400"/>
          </a:p>
          <a:p>
            <a:pPr algn="ctr">
              <a:lnSpc>
                <a:spcPts val="2280"/>
              </a:lnSpc>
              <a:spcBef>
                <a:spcPts val="400"/>
              </a:spcBef>
            </a:pPr>
            <a:r>
              <a:rPr sz="1700" b="1" i="0">
                <a:solidFill>
                  <a:srgbClr val="1F2430"/>
                </a:solidFill>
                <a:latin typeface="Calibri"/>
              </a:rPr>
              <a:t>Garvit Dadheech</a:t>
            </a:r>
          </a:p>
          <a:p>
            <a:pPr algn="ctr">
              <a:lnSpc>
                <a:spcPts val="2280"/>
              </a:lnSpc>
              <a:spcBef>
                <a:spcPts val="400"/>
              </a:spcBef>
            </a:pPr>
            <a:r>
              <a:rPr sz="1700" b="1" i="0">
                <a:solidFill>
                  <a:srgbClr val="1F2430"/>
                </a:solidFill>
                <a:latin typeface="Calibri"/>
              </a:rPr>
              <a:t>Shubh Kesharwani</a:t>
            </a:r>
          </a:p>
        </p:txBody>
      </p:sp>
      <p:sp>
        <p:nvSpPr>
          <p:cNvPr id="102" name="Content Placeholder 2"/>
          <p:cNvSpPr txBox="1"/>
          <p:nvPr/>
        </p:nvSpPr>
        <p:spPr>
          <a:xfrm>
            <a:off x="2701400" y="5175504"/>
            <a:ext cx="3428860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/>
          <a:p>
            <a:pPr algn="ctr">
              <a:lnSpc>
                <a:spcPts val="1739"/>
              </a:lnSpc>
              <a:spcBef>
                <a:spcPts val="1000"/>
              </a:spcBef>
              <a:defRPr b="1" sz="1200"/>
            </a:pPr>
            <a:r>
              <a:rPr sz="1300" b="0" i="0">
                <a:solidFill>
                  <a:srgbClr val="5B6472"/>
                </a:solidFill>
                <a:latin typeface="Calibri"/>
              </a:rPr>
              <a:t>Under the guidance of</a:t>
            </a:r>
            <a:endParaRPr sz="2400"/>
          </a:p>
          <a:p>
            <a:pPr algn="ctr">
              <a:lnSpc>
                <a:spcPts val="2680"/>
              </a:lnSpc>
              <a:spcBef>
                <a:spcPts val="400"/>
              </a:spcBef>
            </a:pPr>
            <a:r>
              <a:rPr sz="2000" b="1" i="0">
                <a:solidFill>
                  <a:srgbClr val="1F2430"/>
                </a:solidFill>
                <a:latin typeface="Calibri"/>
              </a:rPr>
              <a:t>Dharma Teja</a:t>
            </a:r>
          </a:p>
        </p:txBody>
      </p:sp>
      <p:sp>
        <p:nvSpPr>
          <p:cNvPr id="103" name="Content Placeholder 2"/>
          <p:cNvSpPr txBox="1"/>
          <p:nvPr/>
        </p:nvSpPr>
        <p:spPr>
          <a:xfrm>
            <a:off x="2813907" y="4626864"/>
            <a:ext cx="3203848" cy="420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>
            <a:lvl1pPr algn="ctr">
              <a:defRPr b="1">
                <a:latin typeface="Aptos SemiBold"/>
                <a:ea typeface="Aptos SemiBold"/>
                <a:cs typeface="Aptos SemiBold"/>
                <a:sym typeface="Aptos SemiBold"/>
              </a:defRPr>
            </a:lvl1pPr>
          </a:lstStyle>
          <a:p>
            <a:pPr algn="ctr">
              <a:lnSpc>
                <a:spcPts val="1880"/>
              </a:lnSpc>
            </a:pPr>
            <a:r>
              <a:rPr sz="1400" b="0" i="0">
                <a:solidFill>
                  <a:srgbClr val="5B6472"/>
                </a:solidFill>
                <a:latin typeface="Calibri"/>
              </a:rPr>
              <a:t>BSc CS (2025-2026)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3968496"/>
            <a:ext cx="6400800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680"/>
              </a:lnSpc>
            </a:pPr>
            <a:r>
              <a:rPr sz="1250" b="0" i="0">
                <a:solidFill>
                  <a:srgbClr val="5B6472"/>
                </a:solidFill>
                <a:latin typeface="Calibri"/>
              </a:rPr>
              <a:t>A self-hosted, one-command block explorer and real-time transaction indexer for private Solana validators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53400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140"/>
              </a:lnSpc>
              <a:buNone/>
            </a:pPr>
            <a:r>
              <a:rPr sz="1600" b="1" i="0">
                <a:solidFill>
                  <a:srgbClr val="6B21A8"/>
                </a:solidFill>
                <a:latin typeface="Calibri"/>
              </a:rPr>
              <a:t>Background of the problem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Every Solana team develops against solana-test-validator — a complete chain that runs on their own machine.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Debugging a program means reading transactions: which accounts it touched, what it cost, and why it failed.</a:t>
            </a:r>
          </a:p>
          <a:p>
            <a:pPr algn="l">
              <a:lnSpc>
                <a:spcPts val="2140"/>
              </a:lnSpc>
              <a:spcBef>
                <a:spcPts val="2000"/>
              </a:spcBef>
              <a:buNone/>
            </a:pPr>
            <a:r>
              <a:rPr sz="1600" b="1" i="0">
                <a:solidFill>
                  <a:srgbClr val="6B21A8"/>
                </a:solidFill>
                <a:latin typeface="Calibri"/>
              </a:rPr>
              <a:t>Gap in existing systems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Public explorers (Solana Explorer, Solscan, SolanaFM) index public clusters only — they structurally cannot see a private ledger.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RPC polling is address-scoped, adds latency proportional to its interval, and loads the node being observed.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Yellowstone gRPC streams the data, but stores nothing, indexes nothing and answers no queries.</a:t>
            </a:r>
          </a:p>
          <a:p>
            <a:pPr algn="l">
              <a:lnSpc>
                <a:spcPts val="2140"/>
              </a:lnSpc>
              <a:spcBef>
                <a:spcPts val="2000"/>
              </a:spcBef>
              <a:buNone/>
            </a:pPr>
            <a:r>
              <a:rPr sz="1600" b="1" i="0">
                <a:solidFill>
                  <a:srgbClr val="6B21A8"/>
                </a:solidFill>
                <a:latin typeface="Calibri"/>
              </a:rPr>
              <a:t>Impact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Building your own explorer needs gRPC, database and frontend skills at once — a multi-day task every team repeats independently.</a:t>
            </a:r>
          </a:p>
          <a:p>
            <a:pPr algn="l" marL="219456" indent="-219456">
              <a:lnSpc>
                <a:spcPts val="1880"/>
              </a:lnSpc>
              <a:spcBef>
                <a:spcPts val="7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The usual workaround, deploying to devnet just to get explorer visibility, breaks the fast local loop and publishes unreleased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Objectives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OBJ-1  Containerise a Solana test validator running the Yellowstone gRPC Geyser plugin, compiled against a matching validator version.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OBJ-2  Build a resilient indexer that decodes every field of the gRPC payload and persists it without duplicating on replay or restart.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OBJ-3  Design a normalised, migrated and indexed PostgreSQL schema for transactions, failures, accounts and per-transaction balance changes.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OBJ-4  Expose the data through a documented REST API and an interactive explorer interface.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OBJ-5  Orchestrate the whole stack with Docker Compose — one command to start, one to reset.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OBJ-6  Validate with an automated unit suite plus a documented, reproducible functional test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41648"/>
            <a:ext cx="3950208" cy="2505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550" b="1" i="0">
                <a:solidFill>
                  <a:srgbClr val="0E7C66"/>
                </a:solidFill>
                <a:latin typeface="Calibri"/>
              </a:rPr>
              <a:t>In scope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Streaming ingestion and durable storage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REST API, explorer UI, search and filtering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One-command deployment and clean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0872" y="4041648"/>
            <a:ext cx="3950208" cy="2505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550" b="1" i="0">
                <a:solidFill>
                  <a:srgbClr val="9A5B00"/>
                </a:solidFill>
                <a:latin typeface="Calibri"/>
              </a:rPr>
              <a:t>Out of scope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Instruction decoding by program IDL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SPL token and NFT semantics</a:t>
            </a:r>
          </a:p>
          <a:p>
            <a:pPr algn="l" marL="219456" indent="-219456">
              <a:lnSpc>
                <a:spcPts val="1739"/>
              </a:lnSpc>
              <a:spcBef>
                <a:spcPts val="400"/>
              </a:spcBef>
              <a:buFont typeface="Arial"/>
              <a:buChar char="–"/>
            </a:pPr>
            <a:r>
              <a:rPr sz="1300" b="0" i="0">
                <a:solidFill>
                  <a:srgbClr val="1F2430"/>
                </a:solidFill>
                <a:latin typeface="Calibri"/>
              </a:rPr>
              <a:t>Historical backfill;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Existing System /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1739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Four families of approach were evaluated against the requirements of a private validator.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64208"/>
          <a:ext cx="8138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"/>
                <a:gridCol w="822960"/>
                <a:gridCol w="1051560"/>
                <a:gridCol w="82296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Private
ledger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Push-
based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Durable &amp;
queryable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Self-
hosted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Ready-
made UI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Hosted explorers — Solscan, SolanaFM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RPC polling scripts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Per query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Raw Yellowstone gRPC stream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Managed platforms — Helius, Dune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Solana Local Explorer  (this project)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1F2430"/>
                          </a:solidFill>
                          <a:latin typeface="Calibri"/>
                        </a:rPr>
                        <a:t>1 command</a:t>
                      </a:r>
                    </a:p>
                  </a:txBody>
                  <a:tcPr marL="64008" marR="64008" marT="18288" marB="18288" anchor="ctr">
                    <a:solidFill>
                      <a:srgbClr val="E7F4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9663"/>
            <a:ext cx="813816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6B21A8"/>
                </a:solidFill>
                <a:latin typeface="Calibri"/>
              </a:rPr>
              <a:t>Research gap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Every component already exists and is mature — Geyser exposes the events, Yellowstone transports them, PostgreSQL can store them.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What does not exist is an integrated, self-hosted, one-command assembly of those pieces aimed at a private validator.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The contribution of this work is integration, not invention.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Proposed System Architecture</a:t>
            </a:r>
          </a:p>
        </p:txBody>
      </p:sp>
      <p:pic>
        <p:nvPicPr>
          <p:cNvPr id="3" name="Picture 2" descr="fi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869" y="1225296"/>
            <a:ext cx="590826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08775"/>
            <a:ext cx="81381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54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Four tiers, four containers, one Docker Compose network. Data flows strictly upward.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3950208" cy="5303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210"/>
              </a:lnSpc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Blockchain &amp; streaming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solana-test-validator 1.18.26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Yellowstone gRPC Geyser plugin 1.15.3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@triton-one/yellowstone-grpc, bs58</a:t>
            </a:r>
          </a:p>
          <a:p>
            <a:pPr algn="l">
              <a:lnSpc>
                <a:spcPts val="2210"/>
              </a:lnSpc>
              <a:spcBef>
                <a:spcPts val="2000"/>
              </a:spcBef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Indexer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Node.js 22 · TypeScript 5.9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Prisma 5.22 ORM with checked-in migrations</a:t>
            </a:r>
          </a:p>
          <a:p>
            <a:pPr algn="l">
              <a:lnSpc>
                <a:spcPts val="2210"/>
              </a:lnSpc>
              <a:spcBef>
                <a:spcPts val="2000"/>
              </a:spcBef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Database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PostgreSQL 15 — 64-bit integers, arrays, JSONB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Six entities · eleven purpose-built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0872" y="1225296"/>
            <a:ext cx="3950208" cy="5303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210"/>
              </a:lnSpc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Web application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Next.js 16 App Router · React 19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Tailwind CSS 4 · shadcn/ui (Radix)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Recharts · Framer Motion</a:t>
            </a:r>
          </a:p>
          <a:p>
            <a:pPr algn="l">
              <a:lnSpc>
                <a:spcPts val="2210"/>
              </a:lnSpc>
              <a:spcBef>
                <a:spcPts val="2000"/>
              </a:spcBef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Testing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Vitest 4.1.11 — 38 automated unit tests</a:t>
            </a:r>
          </a:p>
          <a:p>
            <a:pPr algn="l">
              <a:lnSpc>
                <a:spcPts val="2210"/>
              </a:lnSpc>
              <a:spcBef>
                <a:spcPts val="2000"/>
              </a:spcBef>
              <a:buNone/>
            </a:pPr>
            <a:r>
              <a:rPr sz="1650" b="1" i="0">
                <a:solidFill>
                  <a:srgbClr val="6B21A8"/>
                </a:solidFill>
                <a:latin typeface="Calibri"/>
              </a:rPr>
              <a:t>Tooling &amp; deployment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Docker Compose v2 — health-gated ordering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pnpm 10.27 with a committed lockfile</a:t>
            </a:r>
          </a:p>
          <a:p>
            <a:pPr algn="l" marL="219456" indent="-219456">
              <a:lnSpc>
                <a:spcPts val="1610"/>
              </a:lnSpc>
              <a:spcBef>
                <a:spcPts val="200"/>
              </a:spcBef>
              <a:buFont typeface="Arial"/>
              <a:buChar char="–"/>
            </a:pPr>
            <a:r>
              <a:rPr sz="1200" b="0" i="0">
                <a:solidFill>
                  <a:srgbClr val="1F2430"/>
                </a:solidFill>
                <a:latin typeface="Calibri"/>
              </a:rPr>
              <a:t>Multi-stage builds; Next.js standalone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Implementation —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53400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Feature 1 — Push-based ingestion</a:t>
            </a:r>
          </a:p>
          <a:p>
            <a:pPr algn="l" marL="219456" indent="-219456">
              <a:lnSpc>
                <a:spcPts val="1810"/>
              </a:lnSpc>
              <a:spcBef>
                <a:spcPts val="7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Subscribes to slots and all transactions at PROCESSED commitment; no polling and no RPC round trip on the write path.</a:t>
            </a:r>
          </a:p>
          <a:p>
            <a:pPr algn="l">
              <a:lnSpc>
                <a:spcPts val="2080"/>
              </a:lnSpc>
              <a:spcBef>
                <a:spcPts val="2000"/>
              </a:spcBef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Feature 2 — Idempotence by construction</a:t>
            </a:r>
          </a:p>
          <a:p>
            <a:pPr algn="l" marL="219456" indent="-219456">
              <a:lnSpc>
                <a:spcPts val="1810"/>
              </a:lnSpc>
              <a:spcBef>
                <a:spcPts val="7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Unique constraints on the signature and on (transactionId, accountIndex) make stream replay and indexer restarts harmless.</a:t>
            </a:r>
          </a:p>
          <a:p>
            <a:pPr algn="l">
              <a:lnSpc>
                <a:spcPts val="2080"/>
              </a:lnSpc>
              <a:spcBef>
                <a:spcPts val="2000"/>
              </a:spcBef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Feature 3 — Lossless 64-bit handling</a:t>
            </a:r>
          </a:p>
          <a:p>
            <a:pPr algn="l" marL="219456" indent="-219456">
              <a:lnSpc>
                <a:spcPts val="1810"/>
              </a:lnSpc>
              <a:spcBef>
                <a:spcPts val="7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Slots, fees and lamport balances stay BigInt end to end and become strings only at the API boundary — JSON cannot silently truncate them.</a:t>
            </a:r>
          </a:p>
          <a:p>
            <a:pPr algn="l">
              <a:lnSpc>
                <a:spcPts val="2080"/>
              </a:lnSpc>
              <a:spcBef>
                <a:spcPts val="2000"/>
              </a:spcBef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Feature 4 — Balance history with amount filtering</a:t>
            </a:r>
          </a:p>
          <a:p>
            <a:pPr algn="l" marL="219456" indent="-219456">
              <a:lnSpc>
                <a:spcPts val="1810"/>
              </a:lnSpc>
              <a:spcBef>
                <a:spcPts val="7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Pre-balance, post-balance and net change per account key index; filterable by field, unit and exact value or range.</a:t>
            </a:r>
          </a:p>
          <a:p>
            <a:pPr algn="l">
              <a:lnSpc>
                <a:spcPts val="2080"/>
              </a:lnSpc>
              <a:spcBef>
                <a:spcPts val="2000"/>
              </a:spcBef>
              <a:buNone/>
            </a:pPr>
            <a:r>
              <a:rPr sz="1550" b="1" i="0">
                <a:solidFill>
                  <a:srgbClr val="6B21A8"/>
                </a:solidFill>
                <a:latin typeface="Calibri"/>
              </a:rPr>
              <a:t>Feature 5 — One-command, health-gated deployment</a:t>
            </a:r>
          </a:p>
          <a:p>
            <a:pPr algn="l" marL="219456" indent="-219456">
              <a:lnSpc>
                <a:spcPts val="1810"/>
              </a:lnSpc>
              <a:spcBef>
                <a:spcPts val="7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The indexer starts only after the validator and database report healthy, then migrates with a bounded retry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Demo — The Explorer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3703320" cy="2314575"/>
          </a:xfrm>
          <a:prstGeom prst="rect">
            <a:avLst/>
          </a:prstGeom>
          <a:ln w="9525">
            <a:solidFill>
              <a:srgbClr val="D9DE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02920" y="3585590"/>
            <a:ext cx="3703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410"/>
              </a:lnSpc>
            </a:pPr>
            <a:r>
              <a:rPr sz="1050" b="0" i="1">
                <a:solidFill>
                  <a:srgbClr val="5B6472"/>
                </a:solidFill>
                <a:latin typeface="Calibri"/>
              </a:rPr>
              <a:t>Dashboard — live stats and activity chart</a:t>
            </a:r>
          </a:p>
        </p:txBody>
      </p:sp>
      <p:pic>
        <p:nvPicPr>
          <p:cNvPr id="5" name="Picture 4" descr="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25296"/>
            <a:ext cx="3703320" cy="2314575"/>
          </a:xfrm>
          <a:prstGeom prst="rect">
            <a:avLst/>
          </a:prstGeom>
          <a:ln w="9525">
            <a:solidFill>
              <a:srgbClr val="D9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937760" y="3585590"/>
            <a:ext cx="3703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410"/>
              </a:lnSpc>
            </a:pPr>
            <a:r>
              <a:rPr sz="1050" b="0" i="1">
                <a:solidFill>
                  <a:srgbClr val="5B6472"/>
                </a:solidFill>
                <a:latin typeface="Calibri"/>
              </a:rPr>
              <a:t>Transaction list — paginated browsing</a:t>
            </a:r>
          </a:p>
        </p:txBody>
      </p:sp>
      <p:pic>
        <p:nvPicPr>
          <p:cNvPr id="7" name="Picture 6" descr="transaction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59352"/>
            <a:ext cx="3703320" cy="2314575"/>
          </a:xfrm>
          <a:prstGeom prst="rect">
            <a:avLst/>
          </a:prstGeom>
          <a:ln w="9525">
            <a:solidFill>
              <a:srgbClr val="D9DE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6319647"/>
            <a:ext cx="3703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410"/>
              </a:lnSpc>
            </a:pPr>
            <a:r>
              <a:rPr sz="1050" b="0" i="1">
                <a:solidFill>
                  <a:srgbClr val="5B6472"/>
                </a:solidFill>
                <a:latin typeface="Calibri"/>
              </a:rPr>
              <a:t>Transaction detail — accounts, instructions, logs</a:t>
            </a:r>
          </a:p>
        </p:txBody>
      </p:sp>
      <p:pic>
        <p:nvPicPr>
          <p:cNvPr id="9" name="Picture 8" descr="account-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959352"/>
            <a:ext cx="3703320" cy="2314575"/>
          </a:xfrm>
          <a:prstGeom prst="rect">
            <a:avLst/>
          </a:prstGeom>
          <a:ln w="9525">
            <a:solidFill>
              <a:srgbClr val="D9DE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937760" y="6319647"/>
            <a:ext cx="3703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410"/>
              </a:lnSpc>
            </a:pPr>
            <a:r>
              <a:rPr sz="1050" b="0" i="1">
                <a:solidFill>
                  <a:srgbClr val="5B6472"/>
                </a:solidFill>
                <a:latin typeface="Calibri"/>
              </a:rPr>
              <a:t>Account detail — balance history and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Flow Diagram — Ingestion and Query</a:t>
            </a:r>
          </a:p>
        </p:txBody>
      </p:sp>
      <p:pic>
        <p:nvPicPr>
          <p:cNvPr id="3" name="Picture 2" descr="fig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65" y="1225296"/>
            <a:ext cx="6695068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08775"/>
            <a:ext cx="81381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54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Phase 1 is push-driven ingestion; phase 2 is the on-demand query path taken by every page and API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Data Model</a:t>
            </a:r>
          </a:p>
        </p:txBody>
      </p:sp>
      <p:pic>
        <p:nvPicPr>
          <p:cNvPr id="3" name="Picture 2" descr="fig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27" y="1225296"/>
            <a:ext cx="694074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797296"/>
            <a:ext cx="81381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ts val="154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Six entities. The dashed link is a deliberate logical join on the address string, so balance rows write in a single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Results &amp;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4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CONTAINERS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56155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1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COMMAND TO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39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5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REST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2625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6/6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OBJECTIVES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586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&lt; 5 s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TX TO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9424"/>
            <a:ext cx="81381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6B21A8"/>
                </a:solidFill>
                <a:latin typeface="Calibri"/>
              </a:rPr>
              <a:t>Delivered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8138160" cy="11521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A working four-container stack that indexes a private Solana ledger and serves it as a browsable explorer and a REST API.</a:t>
            </a:r>
          </a:p>
          <a:p>
            <a:pPr algn="l" marL="219456" indent="-219456">
              <a:lnSpc>
                <a:spcPts val="1810"/>
              </a:lnSpc>
              <a:spcBef>
                <a:spcPts val="4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All six objectives met; 38 of 38 automated tests pass; two defects documented as open rather than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85615"/>
            <a:ext cx="81381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6B21A8"/>
                </a:solidFill>
                <a:latin typeface="Calibri"/>
              </a:rPr>
              <a:t>Performance characteristics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51376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600200"/>
                <a:gridCol w="4754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Characteristic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Ingestion latency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Sub-second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Push-based Geyser delivery at PROCESSED commitment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Visible latency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≤ 5 s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Bounded by the dashboard poll, not the pipeline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List query cost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Index scan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ORDER BY slot DESC served by Transaction(slot)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Account query cost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4 concurrent reads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Composite index (accountAddress, slot)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Payload size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Bounded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Page size clamped to 100; dashboard takes 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Testing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92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56155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38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AUTOMATED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39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38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2625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0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5860" y="1225296"/>
            <a:ext cx="1525219" cy="914400"/>
          </a:xfrm>
          <a:prstGeom prst="roundRect">
            <a:avLst/>
          </a:prstGeom>
          <a:solidFill>
            <a:srgbClr val="F3EEFC"/>
          </a:solidFill>
          <a:ln w="9525">
            <a:solidFill>
              <a:srgbClr val="CEC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lnSpc>
                <a:spcPts val="3620"/>
              </a:lnSpc>
            </a:pPr>
            <a:r>
              <a:rPr sz="2700" b="1" i="0">
                <a:solidFill>
                  <a:srgbClr val="6B21A8"/>
                </a:solidFill>
                <a:latin typeface="Calibri"/>
              </a:rPr>
              <a:t>2</a:t>
            </a:r>
          </a:p>
          <a:p>
            <a:pPr algn="ctr">
              <a:lnSpc>
                <a:spcPts val="134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OPEN DEFECTS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8600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51560"/>
                <a:gridCol w="640080"/>
                <a:gridCol w="4663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it protects</a:t>
                      </a:r>
                    </a:p>
                  </a:txBody>
                  <a:tcPr marL="64008" marR="64008" marT="18288" marB="18288" anchor="ctr">
                    <a:solidFill>
                      <a:srgbClr val="6B21A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Unit — gRPC parsing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Automated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Decoding of every payload field, including malformed input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Unit — serialisation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Automated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Lossless BigInt and Date conversion to JSON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Health, start-up ordering, migration, end-to-end persistence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Contracts, pagination, filtering, search, error codes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Navigation, live refresh, filters, empty and error states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Non-functional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50"/>
                        </a:lnSpc>
                      </a:pPr>
                      <a:r>
                        <a:rPr sz="1000" b="0" i="0">
                          <a:solidFill>
                            <a:srgbClr val="1F2430"/>
                          </a:solidFill>
                          <a:latin typeface="Calibri"/>
                        </a:rPr>
                        <a:t>Latency, restart, idempotence, portability, reset</a:t>
                      </a:r>
                    </a:p>
                  </a:txBody>
                  <a:tcPr marL="64008" marR="64008" marT="18288" marB="18288"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718304"/>
            <a:ext cx="8138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19456" indent="-219456">
              <a:lnSpc>
                <a:spcPts val="1680"/>
              </a:lnSpc>
              <a:spcBef>
                <a:spcPts val="400"/>
              </a:spcBef>
              <a:buFont typeface="Arial"/>
              <a:buChar char="–"/>
            </a:pPr>
            <a:r>
              <a:rPr sz="1250" b="0" i="0">
                <a:solidFill>
                  <a:srgbClr val="1F2430"/>
                </a:solidFill>
                <a:latin typeface="Calibri"/>
              </a:rPr>
              <a:t>38 automated tests execute in under a second with no validator, database or network — the two layers where a silent bug would corrupt data.</a:t>
            </a:r>
          </a:p>
          <a:p>
            <a:pPr algn="l" marL="219456" indent="-219456">
              <a:lnSpc>
                <a:spcPts val="1680"/>
              </a:lnSpc>
              <a:spcBef>
                <a:spcPts val="400"/>
              </a:spcBef>
              <a:buFont typeface="Arial"/>
              <a:buChar char="–"/>
            </a:pPr>
            <a:r>
              <a:rPr sz="1250" b="0" i="0">
                <a:solidFill>
                  <a:srgbClr val="1F2430"/>
                </a:solidFill>
                <a:latin typeface="Calibri"/>
              </a:rPr>
              <a:t>The other 54 cases are documented procedures with exact commands, so an examiner can reproduce every one independently.</a:t>
            </a:r>
          </a:p>
          <a:p>
            <a:pPr algn="l" marL="219456" indent="-219456">
              <a:lnSpc>
                <a:spcPts val="1680"/>
              </a:lnSpc>
              <a:spcBef>
                <a:spcPts val="400"/>
              </a:spcBef>
              <a:buFont typeface="Arial"/>
              <a:buChar char="–"/>
            </a:pPr>
            <a:r>
              <a:rPr sz="1250" b="0" i="0">
                <a:solidFill>
                  <a:srgbClr val="1F2430"/>
                </a:solidFill>
                <a:latin typeface="Calibri"/>
              </a:rPr>
              <a:t>Every requirement traces to at least one test case; no orphans either 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6B21A8"/>
                </a:solidFill>
                <a:latin typeface="Calibri"/>
              </a:rPr>
              <a:t>Technical challenges encountered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Version coupling — the Geyser interface is a Rust ABI, so the plugin must match the validator exactly. Fix: pin both, with a fallback tag.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64-bit values in JavaScript — JSON.stringify throws on BigInt and Number truncates above 2⁵³. Fix: one recursive serialiser, nine unit tests.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Start-up races — depends_on waits for start, not readiness. Fix: health gates plus a bounded migration retry loop plus a restart policy.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A stream that must not stop — one malformed message would kill a long-lived consumer. Fix: every extractor degrades to a safe default; 29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13632"/>
            <a:ext cx="8138160" cy="2633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9A5B00"/>
                </a:solidFill>
                <a:latin typeface="Calibri"/>
              </a:rPr>
              <a:t>Limitations that remain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No historical backfill — indexing is forward-only from connection time.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Instructions stored raw; not decoded into named methods (needs IDLs). Lamports only — no SPL token semantics.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Single indexer instance, no authentication — a trusted-network tool.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65760"/>
            <a:ext cx="8138160" cy="731520"/>
          </a:xfrm>
        </p:spPr>
        <p:txBody>
          <a:bodyPr wrap="square" anchor="ctr"/>
          <a:lstStyle/>
          <a:p>
            <a:pPr>
              <a:lnSpc>
                <a:spcPts val="3890"/>
              </a:lnSpc>
            </a:pPr>
            <a:r>
              <a:rPr sz="2900" b="1" i="0">
                <a:solidFill>
                  <a:srgbClr val="6B21A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25296"/>
            <a:ext cx="8138160" cy="1883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6B21A8"/>
                </a:solidFill>
                <a:latin typeface="Calibri"/>
              </a:rPr>
              <a:t>Conclusion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Solana Local Explorer reduces observability for a private Solana network from a multi-day engineering task to a single command.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Three properties make it usable rather than merely demonstrable: idempotence by construction, precision by discipline, and a substitutable data source behind one environment variable.</a:t>
            </a:r>
          </a:p>
          <a:p>
            <a:pPr algn="l" marL="219456" indent="-219456">
              <a:lnSpc>
                <a:spcPts val="1880"/>
              </a:lnSpc>
              <a:spcBef>
                <a:spcPts val="600"/>
              </a:spcBef>
              <a:buFont typeface="Arial"/>
              <a:buChar char="–"/>
            </a:pPr>
            <a:r>
              <a:rPr sz="1400" b="0" i="0">
                <a:solidFill>
                  <a:srgbClr val="1F2430"/>
                </a:solidFill>
                <a:latin typeface="Calibri"/>
              </a:rPr>
              <a:t>Working end to end, tested, and documented with a reproducible validation procedure.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18688"/>
            <a:ext cx="8138160" cy="33284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ts val="2010"/>
              </a:lnSpc>
              <a:buNone/>
            </a:pPr>
            <a:r>
              <a:rPr sz="1500" b="1" i="0">
                <a:solidFill>
                  <a:srgbClr val="0E7C66"/>
                </a:solidFill>
                <a:latin typeface="Calibri"/>
              </a:rPr>
              <a:t>Future work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Close defect D-06 and point the parsing tests at the production code path instead of its documented mirror.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Replace the five-second dashboard poll with server-sent events.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IDL registry for instruction decoding — additive, no re-indexing needed.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SPL token balance tracking from metadata already present in the payload.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Opt-in historical backfill worker using the same idempotent upserts.</a:t>
            </a:r>
          </a:p>
          <a:p>
            <a:pPr algn="l" marL="219456" indent="-219456">
              <a:lnSpc>
                <a:spcPts val="1810"/>
              </a:lnSpc>
              <a:spcBef>
                <a:spcPts val="500"/>
              </a:spcBef>
              <a:buFont typeface="Arial"/>
              <a:buChar char="–"/>
            </a:pPr>
            <a:r>
              <a:rPr sz="1350" b="0" i="0">
                <a:solidFill>
                  <a:srgbClr val="1F2430"/>
                </a:solidFill>
                <a:latin typeface="Calibri"/>
              </a:rPr>
              <a:t>CI running both suites plus a Compose smoke test on every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pstone Meeting">
  <a:themeElements>
    <a:clrScheme name="Capstone Meetin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apstone Meeting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Capstone 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apstone Meeting">
  <a:themeElements>
    <a:clrScheme name="Capstone Meetin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apstone Meeting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Capstone 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